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29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ith7721/Cognitive_Cla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75488"/>
            <a:ext cx="164592" cy="46680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0" y="475488"/>
            <a:ext cx="3474720" cy="4668012"/>
          </a:xfrm>
          <a:prstGeom prst="rect">
            <a:avLst/>
          </a:prstGeom>
          <a:solidFill>
            <a:srgbClr val="E8F9FD"/>
          </a:solidFill>
          <a:ln w="12700">
            <a:solidFill>
              <a:srgbClr val="E8F9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OF THE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E8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Claw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Operating Layer for Vision, Voice &amp; Intelligence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4754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3401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&lt;R V College of Engineering &gt;&lt;Cognitive Crew&gt;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[Pavan S  | Amith gowda R N |Sujal Chavan |Rehan  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Productivity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41605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1168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Research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41605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Intelligence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91440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1280160" cy="1280160"/>
          </a:xfrm>
          <a:prstGeom prst="ellipse">
            <a:avLst/>
          </a:prstGeom>
          <a:solidFill>
            <a:srgbClr val="0077A8">
              <a:alpha val="40000"/>
            </a:srgbClr>
          </a:solidFill>
          <a:ln w="190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03720" y="1417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🤖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5989320" y="3017520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53328" y="301752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Vision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3401568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53328" y="3401568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Voice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3785616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53328" y="378561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89320" y="4169664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53328" y="41696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" y="1170432"/>
            <a:ext cx="4114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" y="1170432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Information Fragmentation Crisis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499616"/>
            <a:ext cx="3913632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professionals switch between 7+ tools daily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notes → screenshots → PDFs → research tabs → calendars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cognitive overload, poor organization &amp; missed actions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" y="2788920"/>
            <a:ext cx="1965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" y="2788920"/>
            <a:ext cx="19659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4592" y="27889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Faces This?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3118104"/>
            <a:ext cx="176479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researchers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managing large information flows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39696" y="2788920"/>
            <a:ext cx="2048256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139696" y="2788920"/>
            <a:ext cx="2048256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31136" y="27889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Tools Fail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9424" y="3118104"/>
            <a:ext cx="184708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apps: store tasks only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apps: scan text only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Chatbots: answer queries only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connect info together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1170432"/>
            <a:ext cx="4754880" cy="1508760"/>
          </a:xfrm>
          <a:prstGeom prst="rect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07408" y="1234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Fragmentation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07408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hrs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07408" y="20482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daily switching between tools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0176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80176" y="20482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research notes never reviewed again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2944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552944" y="20482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action items missed due to siloed apps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15968" y="2788920"/>
            <a:ext cx="4754880" cy="2011680"/>
          </a:xfrm>
          <a:prstGeom prst="rect">
            <a:avLst/>
          </a:prstGeom>
          <a:solidFill>
            <a:srgbClr val="F4FBFD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315968" y="2788920"/>
            <a:ext cx="4754880" cy="2926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407408" y="2788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Goal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07408" y="3145536"/>
            <a:ext cx="45720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agentic system that:
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Understands vision + voice + research together
✔  Converts raw information into actionable intelligence
✔  Works as a unified AI operating layer
✔  Proactively assists — not just passively stores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" y="4828032"/>
            <a:ext cx="8997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real, not generic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&amp; Gaps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" y="1170432"/>
            <a:ext cx="8997696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" y="117043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72384" y="117043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71616" y="117043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" y="1517904"/>
            <a:ext cx="899769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6304" y="151790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45536" y="151790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Image text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44768" y="151790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no task creation, no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" y="1929384"/>
            <a:ext cx="8997696" cy="402336"/>
          </a:xfrm>
          <a:prstGeom prst="rect">
            <a:avLst/>
          </a:prstGeom>
          <a:solidFill>
            <a:srgbClr val="F4FBFD"/>
          </a:solidFill>
          <a:ln w="6350">
            <a:solidFill>
              <a:srgbClr val="D0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46304" y="19293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45536" y="19293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Q&amp;A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19293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Stateless; no vision + scheduling + memory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" y="2340864"/>
            <a:ext cx="899769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6304" y="234086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TODO Apps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45536" y="234086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note &amp; task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234086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waits for user, never proactive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" y="2752344"/>
            <a:ext cx="8997696" cy="402336"/>
          </a:xfrm>
          <a:prstGeom prst="rect">
            <a:avLst/>
          </a:prstGeom>
          <a:solidFill>
            <a:srgbClr val="F4FBFD"/>
          </a:solidFill>
          <a:ln w="6350">
            <a:solidFill>
              <a:srgbClr val="D0E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46304" y="275234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Apps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45536" y="275234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reminders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44768" y="275234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synthesis with research or notes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" y="3246120"/>
            <a:ext cx="8997696" cy="1664208"/>
          </a:xfrm>
          <a:prstGeom prst="rect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032" y="32918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Opportunity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56032" y="3657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productivity ecosystem where Vision, Voice, Research, Scheduling &amp; Summarization all work together seamlessly — powered by intelligent agents that understand, reason, and act.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13248" y="3639312"/>
            <a:ext cx="1133856" cy="384048"/>
          </a:xfrm>
          <a:prstGeom prst="rect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13248" y="36393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Vision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20256" y="3639312"/>
            <a:ext cx="1133856" cy="384048"/>
          </a:xfrm>
          <a:prstGeom prst="rect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20256" y="36393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27264" y="3639312"/>
            <a:ext cx="1133856" cy="384048"/>
          </a:xfrm>
          <a:prstGeom prst="rect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827264" y="36393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Research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13248" y="4142232"/>
            <a:ext cx="1133856" cy="384048"/>
          </a:xfrm>
          <a:prstGeom prst="rect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13248" y="414223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Scheduling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0256" y="4142232"/>
            <a:ext cx="1133856" cy="384048"/>
          </a:xfrm>
          <a:prstGeom prst="rect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20256" y="414223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Summarization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152" y="4919472"/>
            <a:ext cx="8997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real, not generic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 — Cognitive Claw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" y="1078992"/>
            <a:ext cx="8997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AI productivity ecosystem powered by intelligent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" y="1444752"/>
            <a:ext cx="2907792" cy="1901952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" y="1444752"/>
            <a:ext cx="290779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4592" y="144475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Claw Vision Synapse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1773936"/>
            <a:ext cx="27066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vision engine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 from images &amp; screenshots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context &amp; user intent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notes &amp; whiteboards into tasks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visual content automatically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72384" y="1444752"/>
            <a:ext cx="2907792" cy="1901952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72384" y="1444752"/>
            <a:ext cx="2907792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63824" y="144475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82112" y="1773936"/>
            <a:ext cx="27066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deep research assistant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topics autonomously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summaries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complex concepts simply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actionable, structured insights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907792" cy="1901952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71616" y="1444752"/>
            <a:ext cx="2907792" cy="2926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63056" y="144475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Daily Cognitive Briefing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1773936"/>
            <a:ext cx="27066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meetings, tasks &amp; calendar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research findings daily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prioritizes actions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daily intelligence brief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81912" y="3456432"/>
            <a:ext cx="2907792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581912" y="3456432"/>
            <a:ext cx="2907792" cy="292608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73352" y="345643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Aura Voice Assistant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785616"/>
            <a:ext cx="270662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voice interaction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voice commands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spoken responses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conversational workflow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81144" y="3456432"/>
            <a:ext cx="2907792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81144" y="3456432"/>
            <a:ext cx="2907792" cy="292608"/>
          </a:xfrm>
          <a:prstGeom prst="rect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72584" y="345643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Memory Vault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0872" y="3785616"/>
            <a:ext cx="270662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AI memory layer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user patterns &amp; preferences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contextual intelligence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personalization over time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" y="4919472"/>
            <a:ext cx="8997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Unified Agentic Handoff — Vision → Research → Synthesis → Voice in one seamless layer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Product Walkthrough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" y="1417320"/>
            <a:ext cx="1709928" cy="2331720"/>
          </a:xfrm>
          <a:prstGeom prst="rect">
            <a:avLst/>
          </a:prstGeom>
          <a:solidFill>
            <a:srgbClr val="EAF7FB"/>
          </a:solidFill>
          <a:ln w="1905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828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Input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" y="1929384"/>
            <a:ext cx="149047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uploads: whiteboard image, handwritten note, screenshot or timetable via Claw Vision Synapse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00784" y="2331720"/>
            <a:ext cx="173736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19072" y="2267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1417320"/>
            <a:ext cx="1709928" cy="2331720"/>
          </a:xfrm>
          <a:prstGeom prst="rect">
            <a:avLst/>
          </a:prstGeom>
          <a:solidFill>
            <a:srgbClr val="EAF7FB"/>
          </a:solidFill>
          <a:ln w="1905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984248" y="15087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8424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Context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84248" y="1929384"/>
            <a:ext cx="149047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extracts text, identifies intent, detects important tasks &amp; understands topic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02152" y="2331720"/>
            <a:ext cx="173736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20440" y="2267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75888" y="1417320"/>
            <a:ext cx="1709928" cy="2331720"/>
          </a:xfrm>
          <a:prstGeom prst="rect">
            <a:avLst/>
          </a:prstGeom>
          <a:solidFill>
            <a:srgbClr val="EAF7FB"/>
          </a:solidFill>
          <a:ln w="1905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85616" y="15087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78561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24528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Activation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785616" y="1929384"/>
            <a:ext cx="149047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"Research this topic deeply." AI generates structured research summary, explains concepts &amp; creates 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2331720"/>
            <a:ext cx="173736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21808" y="2267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77256" y="1417320"/>
            <a:ext cx="1709928" cy="2331720"/>
          </a:xfrm>
          <a:prstGeom prst="rect">
            <a:avLst/>
          </a:prstGeom>
          <a:solidFill>
            <a:srgbClr val="EAF7FB"/>
          </a:solidFill>
          <a:ln w="1905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586984" y="15087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86984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25896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Briefing Synthesis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86984" y="1929384"/>
            <a:ext cx="149047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auto-updates tasks, creates meeting insights, adds research notes &amp; prioritizes actions for the day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04888" y="2331720"/>
            <a:ext cx="173736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123176" y="2267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78624" y="1417320"/>
            <a:ext cx="1709928" cy="2331720"/>
          </a:xfrm>
          <a:prstGeom prst="rect">
            <a:avLst/>
          </a:prstGeom>
          <a:solidFill>
            <a:srgbClr val="EAF7FB"/>
          </a:solidFill>
          <a:ln w="1905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388352" y="15087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388352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27264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Voice Feedback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88352" y="1929384"/>
            <a:ext cx="149047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responds: "Your research has been completed and added to today's briefing." Hands-free confirmation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" y="3858768"/>
            <a:ext cx="89976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3152" y="3950208"/>
            <a:ext cx="8997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Innovation: Seamless Agent Handoff — Vision → Research → Synthesis → Voice — without leaving the application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152" y="4343400"/>
            <a:ext cx="8997696" cy="658368"/>
          </a:xfrm>
          <a:prstGeom prst="rect">
            <a:avLst/>
          </a:prstGeom>
          <a:solidFill>
            <a:srgbClr val="F4FBFD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82880" y="4389120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Flow: 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 →  AI scans &amp; extracts  →  Research activated  →  Briefing updated  →  Aura speaks result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" y="1170432"/>
            <a:ext cx="411480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" y="1170432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499616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(cross-platform)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State Management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 Design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" y="2468880"/>
            <a:ext cx="411480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" y="2468880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4592" y="2468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Backend &amp; Storage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2798064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/ SQLite — on-device persistence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local memory architecture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data 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" y="3918204"/>
            <a:ext cx="411480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73152" y="3767328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64592" y="3767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&amp; APIs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4096512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Free Models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OCR/Vision · STT · TTS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1170432"/>
            <a:ext cx="4754880" cy="3822192"/>
          </a:xfrm>
          <a:prstGeom prst="rect">
            <a:avLst/>
          </a:prstGeom>
          <a:solidFill>
            <a:srgbClr val="F4FBFD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15968" y="1170432"/>
            <a:ext cx="475488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07408" y="11704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98848" y="1627632"/>
            <a:ext cx="4389120" cy="512064"/>
          </a:xfrm>
          <a:prstGeom prst="rect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90288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 Layer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90288" y="18836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Image / Tasks / Calendar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98848" y="2249424"/>
            <a:ext cx="4389120" cy="512064"/>
          </a:xfrm>
          <a:prstGeom prst="rect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90288" y="2249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Aura Processing Layer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90288" y="25054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Context Detection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2724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98848" y="2871216"/>
            <a:ext cx="4389120" cy="5120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90288" y="2871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Agentic Dispatcher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90288" y="31272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task to correct AI agent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3346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98848" y="3493008"/>
            <a:ext cx="4389120" cy="5120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90288" y="3493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LLM Reasoning Engine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90288" y="37490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Summarization / Planning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3968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498848" y="4114800"/>
            <a:ext cx="438912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90288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 Layer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90288" y="43708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• Briefs • Voice • Research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" y="4919472"/>
            <a:ext cx="8997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real, not generic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" y="1170432"/>
            <a:ext cx="4425696" cy="186537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" y="1170432"/>
            <a:ext cx="4425696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1170432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Learner (Student)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15361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classroom notes or whiteboard photo.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" y="1901952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 structures key concepts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topic automatically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personalised study guide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spaced revision tasks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6864" y="1170432"/>
            <a:ext cx="4425696" cy="186537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26864" y="1170432"/>
            <a:ext cx="4425696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18304" y="1170432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Busy Professional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6592" y="15361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says: "Summarize my meetings from today."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36592" y="1901952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generates meeting highlights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deadlines &amp; action items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next steps with owners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daily briefing instantly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" y="3108960"/>
            <a:ext cx="4425696" cy="186537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152" y="3108960"/>
            <a:ext cx="4425696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64592" y="310896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Researcher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" y="3474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research question or paper screenshot.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" y="3840480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performs deep dive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information by theme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findings concisely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tab-switching by 80%+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3108960"/>
            <a:ext cx="4425696" cy="1865376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26864" y="3108960"/>
            <a:ext cx="4425696" cy="329184"/>
          </a:xfrm>
          <a:prstGeom prst="rect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18304" y="310896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Productivity Companion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3474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runs Daily Briefing at start of day.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3840480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tasks by urgency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Reminds urgent deadlines proactively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schedule intelligently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user rhythm over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" y="4956048"/>
            <a:ext cx="899769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" y="4828032"/>
            <a:ext cx="8997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Potential: Enterprise AI Workspace  •  Educational AI Platform  •  AI Productivity Operating System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— Why Cognitive Claw Stands 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" y="1170432"/>
            <a:ext cx="4425696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" y="1170432"/>
            <a:ext cx="10972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Unified Multi-modal Intelligence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4133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handle Voice OR Vision OR Research in isolation. Cognitive Claw combines ALL modalities into one seamless agentic layer — no context lost between switches.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170432"/>
            <a:ext cx="4425696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26864" y="1170432"/>
            <a:ext cx="109728" cy="1645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26187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Agentic Execution (Not Just Chat)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28032" y="1645920"/>
            <a:ext cx="4133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chatbots wait and answer. Cognitive Claw understands intent, decides the right action, executes across agents, and synthesizes results — proactively.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" y="2889504"/>
            <a:ext cx="4425696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" y="2889504"/>
            <a:ext cx="109728" cy="1645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980944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MOAT #1 — Neural Memory Vault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" y="3364992"/>
            <a:ext cx="4133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contextual memory that builds a personalised intelligence layer. The AI learns your writing style, productivity habits &amp; research behavior — getting smarter every 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2889504"/>
            <a:ext cx="4425696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26864" y="2889504"/>
            <a:ext cx="109728" cy="164592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28032" y="2980944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MOAT #2 — On-device First Architecture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28032" y="3364992"/>
            <a:ext cx="4133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design. All processing happens locally — no cloud dependency for core features. Result: lower latency, offline capability &amp; secure personal intelligence.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" y="4663440"/>
            <a:ext cx="8997696" cy="384048"/>
          </a:xfrm>
          <a:prstGeom prst="rect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4592" y="4663440"/>
            <a:ext cx="8814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Premium Aura Experience — Glassmorphic adaptive UI with emotional interaction, voice-first navigation &amp; intelligent visual feedback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920" y="55778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 &amp; Documentation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28016" cy="102412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" y="1389888"/>
            <a:ext cx="640080" cy="64008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4944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44752" y="1280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44752" y="1645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architecture docs &amp; setup guide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19293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hlinkClick r:id="rId3"/>
              </a:rPr>
              <a:t>https://github.com/Amith7721/Cognitive_Claw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128016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4944" y="2532888"/>
            <a:ext cx="640080" cy="6400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494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44752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walkthrough — 3 to 5 minutes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44752" y="30175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[YouTube / Google Drive Link Here]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" y="54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Slide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Future Scope &amp; Vision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" y="1389888"/>
            <a:ext cx="8997696" cy="1005840"/>
          </a:xfrm>
          <a:prstGeom prst="rect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" y="143560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Adaptive Aura Intelligence — UI that dynamically changes with user state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79222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4444">
              <a:alpha val="70000"/>
            </a:srgbClr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1168" y="1792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 →  Urgent 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79222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4488FF">
              <a:alpha val="70000"/>
            </a:srgbClr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82112" y="1792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Blue  →  Research Focus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179222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44CC88">
              <a:alpha val="70000"/>
            </a:srgbClr>
          </a:solidFill>
          <a:ln w="12700">
            <a:solidFill>
              <a:srgbClr val="44CC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63056" y="1792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 →  Calm Productivity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" y="2377440"/>
            <a:ext cx="2907792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" y="2377440"/>
            <a:ext cx="290779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" y="237744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On-device LLM 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2706624"/>
            <a:ext cx="2706624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AI that adapts to your writing style, productivity habits &amp; research behavior over 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72384" y="2377440"/>
            <a:ext cx="2907792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72384" y="2377440"/>
            <a:ext cx="290779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163824" y="237744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Wearable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82112" y="2706624"/>
            <a:ext cx="2706624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Smart-glasses powered real-time OCR, contextual AI assistance &amp; fully hands-free interaction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71616" y="2377440"/>
            <a:ext cx="2907792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E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71616" y="2377440"/>
            <a:ext cx="290779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63056" y="237744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1344" y="2706624"/>
            <a:ext cx="2706624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agents capable of scheduling meetings, generating reports, managing research &amp; intelligent orchestration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" y="4663440"/>
            <a:ext cx="8997696" cy="457200"/>
          </a:xfrm>
          <a:prstGeom prst="rect">
            <a:avLst/>
          </a:prstGeom>
          <a:solidFill>
            <a:srgbClr val="F4FBFD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2880" y="4681728"/>
            <a:ext cx="8778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"Cognitive Claw is not just a chatbot. It is an Agentic Intelligence Layer that understands, reasons, and acts across vision, voice, research, and productivity workflows."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2DE3E7-0F96-09DF-4F2F-74B5345FCED1}"/>
              </a:ext>
            </a:extLst>
          </p:cNvPr>
          <p:cNvSpPr txBox="1"/>
          <p:nvPr/>
        </p:nvSpPr>
        <p:spPr>
          <a:xfrm>
            <a:off x="2676144" y="2023872"/>
            <a:ext cx="4517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208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1229</Words>
  <Application>Microsoft Office PowerPoint</Application>
  <PresentationFormat>On-screen Show (16:9)</PresentationFormat>
  <Paragraphs>224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Amith gowda</cp:lastModifiedBy>
  <cp:revision>3</cp:revision>
  <dcterms:created xsi:type="dcterms:W3CDTF">2026-05-08T08:49:18Z</dcterms:created>
  <dcterms:modified xsi:type="dcterms:W3CDTF">2026-05-08T18:41:37Z</dcterms:modified>
</cp:coreProperties>
</file>