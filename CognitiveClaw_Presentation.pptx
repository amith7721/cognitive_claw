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21EC2B-0C59-48DD-9B08-BA127A4089B7}" v="2" dt="2026-05-09T07:52:57.9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ith gowda" userId="69bfd0c6cb05fad5" providerId="LiveId" clId="{48224819-2350-487B-9D68-A87FB3B84215}"/>
    <pc:docChg chg="modSld">
      <pc:chgData name="Amith gowda" userId="69bfd0c6cb05fad5" providerId="LiveId" clId="{48224819-2350-487B-9D68-A87FB3B84215}" dt="2026-05-09T07:52:57.889" v="51" actId="20577"/>
      <pc:docMkLst>
        <pc:docMk/>
      </pc:docMkLst>
      <pc:sldChg chg="modSp mod">
        <pc:chgData name="Amith gowda" userId="69bfd0c6cb05fad5" providerId="LiveId" clId="{48224819-2350-487B-9D68-A87FB3B84215}" dt="2026-05-09T03:11:06.427" v="32" actId="207"/>
        <pc:sldMkLst>
          <pc:docMk/>
          <pc:sldMk cId="0" sldId="261"/>
        </pc:sldMkLst>
        <pc:spChg chg="mod">
          <ac:chgData name="Amith gowda" userId="69bfd0c6cb05fad5" providerId="LiveId" clId="{48224819-2350-487B-9D68-A87FB3B84215}" dt="2026-05-09T03:11:06.427" v="32" actId="207"/>
          <ac:spMkLst>
            <pc:docMk/>
            <pc:sldMk cId="0" sldId="261"/>
            <ac:spMk id="17" creationId="{00000000-0000-0000-0000-000000000000}"/>
          </ac:spMkLst>
        </pc:spChg>
      </pc:sldChg>
      <pc:sldChg chg="modSp mod">
        <pc:chgData name="Amith gowda" userId="69bfd0c6cb05fad5" providerId="LiveId" clId="{48224819-2350-487B-9D68-A87FB3B84215}" dt="2026-05-09T07:52:57.889" v="51" actId="20577"/>
        <pc:sldMkLst>
          <pc:docMk/>
          <pc:sldMk cId="0" sldId="264"/>
        </pc:sldMkLst>
        <pc:spChg chg="mod">
          <ac:chgData name="Amith gowda" userId="69bfd0c6cb05fad5" providerId="LiveId" clId="{48224819-2350-487B-9D68-A87FB3B84215}" dt="2026-05-09T03:11:57.464" v="49" actId="20577"/>
          <ac:spMkLst>
            <pc:docMk/>
            <pc:sldMk cId="0" sldId="264"/>
            <ac:spMk id="18" creationId="{00000000-0000-0000-0000-000000000000}"/>
          </ac:spMkLst>
        </pc:spChg>
        <pc:spChg chg="mod">
          <ac:chgData name="Amith gowda" userId="69bfd0c6cb05fad5" providerId="LiveId" clId="{48224819-2350-487B-9D68-A87FB3B84215}" dt="2026-05-09T07:52:57.889" v="51" actId="20577"/>
          <ac:spMkLst>
            <pc:docMk/>
            <pc:sldMk cId="0" sldId="264"/>
            <ac:spMk id="19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722924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mith7721/Cognitive_Claw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rive.google.com/drive/folders/1Cv8gZVs3T-3lVJVkQf6udaqevV5hLc-d?usp=drive_link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7432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0" y="475488"/>
            <a:ext cx="164592" cy="466801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5669280" y="475488"/>
            <a:ext cx="3474720" cy="4668012"/>
          </a:xfrm>
          <a:prstGeom prst="rect">
            <a:avLst/>
          </a:prstGeom>
          <a:solidFill>
            <a:srgbClr val="E8F9FD"/>
          </a:solidFill>
          <a:ln w="12700">
            <a:solidFill>
              <a:srgbClr val="E8F9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7315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300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 OF THE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1170432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E81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CLAWS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365760" y="228600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Claw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272491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Operating Layer for Vision, Voice &amp; Intelligence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3291840"/>
            <a:ext cx="475488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65760" y="34015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&lt;R V College of Engineering &gt;&lt;Cognitive Crew&gt;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730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[Pavan S  | Amith gowda R N |Sujal Chavan |Rehan  ]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4160520"/>
            <a:ext cx="1554480" cy="274320"/>
          </a:xfrm>
          <a:prstGeom prst="roundRect">
            <a:avLst>
              <a:gd name="adj" fmla="val 20000"/>
            </a:avLst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65760" y="4160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Productivity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011680" y="4160520"/>
            <a:ext cx="1554480" cy="274320"/>
          </a:xfrm>
          <a:prstGeom prst="roundRect">
            <a:avLst>
              <a:gd name="adj" fmla="val 20000"/>
            </a:avLst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011680" y="4160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Research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0" y="4160520"/>
            <a:ext cx="1554480" cy="274320"/>
          </a:xfrm>
          <a:prstGeom prst="roundRect">
            <a:avLst>
              <a:gd name="adj" fmla="val 20000"/>
            </a:avLst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657600" y="4160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Multi-modal Intelligence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0" y="914400"/>
            <a:ext cx="2011680" cy="2011680"/>
          </a:xfrm>
          <a:prstGeom prst="ellipse">
            <a:avLst/>
          </a:prstGeom>
          <a:solidFill>
            <a:srgbClr val="00B4D8">
              <a:alpha val="20000"/>
            </a:srgbClr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6766560" y="1280160"/>
            <a:ext cx="1280160" cy="1280160"/>
          </a:xfrm>
          <a:prstGeom prst="ellipse">
            <a:avLst/>
          </a:prstGeom>
          <a:solidFill>
            <a:srgbClr val="0077A8">
              <a:alpha val="40000"/>
            </a:srgbClr>
          </a:solidFill>
          <a:ln w="1905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6903720" y="14173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dirty="0">
                <a:solidFill>
                  <a:srgbClr val="000000"/>
                </a:solidFill>
              </a:rPr>
              <a:t>🤖</a:t>
            </a:r>
            <a:endParaRPr lang="en-US" sz="4200" dirty="0"/>
          </a:p>
        </p:txBody>
      </p:sp>
      <p:sp>
        <p:nvSpPr>
          <p:cNvPr id="22" name="Shape 20"/>
          <p:cNvSpPr/>
          <p:nvPr/>
        </p:nvSpPr>
        <p:spPr>
          <a:xfrm>
            <a:off x="5989320" y="3017520"/>
            <a:ext cx="28346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48CAE4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6053328" y="3017520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  Vision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989320" y="3401568"/>
            <a:ext cx="28346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48CAE4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053328" y="3401568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 Voice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989320" y="3785616"/>
            <a:ext cx="28346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48CAE4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6053328" y="3785616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Research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989320" y="4169664"/>
            <a:ext cx="28346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48CAE4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6053328" y="4169664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Memory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73152" y="54864"/>
            <a:ext cx="1737360" cy="32918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3152" y="5486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" y="47548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" y="1170432"/>
            <a:ext cx="4114800" cy="1508760"/>
          </a:xfrm>
          <a:prstGeom prst="rect">
            <a:avLst/>
          </a:prstGeom>
          <a:solidFill>
            <a:srgbClr val="FFFFFF"/>
          </a:solidFill>
          <a:ln w="1524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3152" y="1170432"/>
            <a:ext cx="4114800" cy="2926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64592" y="117043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Information Fragmentation Crisis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" y="1499616"/>
            <a:ext cx="3913632" cy="1124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&amp; professionals switch between 7+ tools daily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Handwritten notes → screenshots → PDFs → research tabs → calendars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cognitive overload, poor organization &amp; missed actions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" y="2788920"/>
            <a:ext cx="1965960" cy="2011680"/>
          </a:xfrm>
          <a:prstGeom prst="rect">
            <a:avLst/>
          </a:prstGeom>
          <a:solidFill>
            <a:srgbClr val="FFFFFF"/>
          </a:solidFill>
          <a:ln w="1524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73152" y="2788920"/>
            <a:ext cx="1965960" cy="29260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64592" y="27889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Who Faces This?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" y="3118104"/>
            <a:ext cx="1764792" cy="1627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students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researchers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workers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managing large information flows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139696" y="2788920"/>
            <a:ext cx="2048256" cy="2011680"/>
          </a:xfrm>
          <a:prstGeom prst="rect">
            <a:avLst/>
          </a:prstGeom>
          <a:solidFill>
            <a:srgbClr val="FFFFFF"/>
          </a:solidFill>
          <a:ln w="1524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2139696" y="2788920"/>
            <a:ext cx="2048256" cy="29260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231136" y="27889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Tools Fail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49424" y="3118104"/>
            <a:ext cx="1847088" cy="1627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apps: store tasks only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apps: scan text only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Chatbots: answer queries only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connect info together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315968" y="1170432"/>
            <a:ext cx="4754880" cy="1508760"/>
          </a:xfrm>
          <a:prstGeom prst="rect">
            <a:avLst/>
          </a:prstGeom>
          <a:solidFill>
            <a:srgbClr val="003F5C"/>
          </a:solidFill>
          <a:ln w="12700">
            <a:solidFill>
              <a:srgbClr val="003F5C"/>
            </a:solidFill>
            <a:prstDash val="solid"/>
          </a:ln>
          <a:effectLst>
            <a:outerShdw blurRad="635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4407408" y="123444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Fragmentation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407408" y="157276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hrs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407408" y="2048256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D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daily switching between tools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980176" y="157276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5980176" y="2048256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D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research notes never reviewed again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552944" y="157276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552944" y="2048256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D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action items missed due to siloed apps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315968" y="2788920"/>
            <a:ext cx="4754880" cy="2011680"/>
          </a:xfrm>
          <a:prstGeom prst="rect">
            <a:avLst/>
          </a:prstGeom>
          <a:solidFill>
            <a:srgbClr val="F4FBFD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4315968" y="2788920"/>
            <a:ext cx="4754880" cy="292608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4407408" y="27889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Goal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407408" y="3145536"/>
            <a:ext cx="4572000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intelligent agentic system that:
</a:t>
            </a: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Understands vision + voice + research together
✔  Converts raw information into actionable intelligence
✔  Works as a unified AI operating layer
✔  Proactively assists — not just passively stores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3152" y="4828032"/>
            <a:ext cx="899769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real, not generic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73152" y="54864"/>
            <a:ext cx="1737360" cy="32918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3152" y="5486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" y="47548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Solutions &amp; Gaps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" y="1170432"/>
            <a:ext cx="8997696" cy="347472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73152" y="1170432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Tool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72384" y="1170432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71616" y="1170432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Gap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" y="1517904"/>
            <a:ext cx="899769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0EE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146304" y="1517904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Lens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145536" y="1517904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/ Image text extraction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144768" y="1517904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context, no task creation, no memory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" y="1929384"/>
            <a:ext cx="8997696" cy="402336"/>
          </a:xfrm>
          <a:prstGeom prst="rect">
            <a:avLst/>
          </a:prstGeom>
          <a:solidFill>
            <a:srgbClr val="F4FBFD"/>
          </a:solidFill>
          <a:ln w="6350">
            <a:solidFill>
              <a:srgbClr val="D0EE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146304" y="1929384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/ Gemini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145536" y="1929384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Q&amp;A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44768" y="1929384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Stateless; no vision + scheduling + memory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" y="2340864"/>
            <a:ext cx="899769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0EE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146304" y="2340864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/ TODO Apps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45536" y="2340864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note &amp; task storage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44768" y="2340864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— waits for user, never proactive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" y="2752344"/>
            <a:ext cx="8997696" cy="402336"/>
          </a:xfrm>
          <a:prstGeom prst="rect">
            <a:avLst/>
          </a:prstGeom>
          <a:solidFill>
            <a:srgbClr val="F4FBFD"/>
          </a:solidFill>
          <a:ln w="6350">
            <a:solidFill>
              <a:srgbClr val="D0EE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146304" y="2752344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Apps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145536" y="2752344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&amp; reminders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44768" y="2752344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intelligent synthesis with research or notes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3152" y="3246120"/>
            <a:ext cx="8997696" cy="1664208"/>
          </a:xfrm>
          <a:prstGeom prst="rect">
            <a:avLst/>
          </a:prstGeom>
          <a:solidFill>
            <a:srgbClr val="003F5C"/>
          </a:solidFill>
          <a:ln w="12700">
            <a:solidFill>
              <a:srgbClr val="003F5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56032" y="329184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The Opportunity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256032" y="365760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CC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AI-powered productivity ecosystem where Vision, Voice, Research, Scheduling &amp; Summarization all work together seamlessly — powered by intelligent agents that understand, reason, and act.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13248" y="3639312"/>
            <a:ext cx="1133856" cy="384048"/>
          </a:xfrm>
          <a:prstGeom prst="rect">
            <a:avLst/>
          </a:prstGeom>
          <a:solidFill>
            <a:srgbClr val="0096C7">
              <a:alpha val="70000"/>
            </a:srgbClr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5413248" y="36393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🔭 Vision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620256" y="3639312"/>
            <a:ext cx="1133856" cy="384048"/>
          </a:xfrm>
          <a:prstGeom prst="rect">
            <a:avLst/>
          </a:prstGeom>
          <a:solidFill>
            <a:srgbClr val="0096C7">
              <a:alpha val="70000"/>
            </a:srgbClr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6620256" y="36393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Voice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827264" y="3639312"/>
            <a:ext cx="1133856" cy="384048"/>
          </a:xfrm>
          <a:prstGeom prst="rect">
            <a:avLst/>
          </a:prstGeom>
          <a:solidFill>
            <a:srgbClr val="0096C7">
              <a:alpha val="70000"/>
            </a:srgbClr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7827264" y="36393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Research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413248" y="4142232"/>
            <a:ext cx="1133856" cy="384048"/>
          </a:xfrm>
          <a:prstGeom prst="rect">
            <a:avLst/>
          </a:prstGeom>
          <a:solidFill>
            <a:srgbClr val="0096C7">
              <a:alpha val="70000"/>
            </a:srgbClr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5413248" y="414223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Scheduling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620256" y="4142232"/>
            <a:ext cx="1133856" cy="384048"/>
          </a:xfrm>
          <a:prstGeom prst="rect">
            <a:avLst/>
          </a:prstGeom>
          <a:solidFill>
            <a:srgbClr val="0096C7">
              <a:alpha val="70000"/>
            </a:srgbClr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6620256" y="414223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Summarization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3152" y="4919472"/>
            <a:ext cx="89976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real, not generic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73152" y="54864"/>
            <a:ext cx="1737360" cy="32918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3152" y="5486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" y="47548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Solution — Cognitive Claw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" y="1078992"/>
            <a:ext cx="89976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integrated AI productivity ecosystem powered by intelligent agents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" y="1444752"/>
            <a:ext cx="2907792" cy="1901952"/>
          </a:xfrm>
          <a:prstGeom prst="rect">
            <a:avLst/>
          </a:prstGeom>
          <a:solidFill>
            <a:srgbClr val="FFFFFF"/>
          </a:solidFill>
          <a:ln w="1524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73152" y="1444752"/>
            <a:ext cx="2907792" cy="2926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164592" y="1444752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  Claw Vision Synapse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2880" y="1773936"/>
            <a:ext cx="2706624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vision engine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text from images &amp; screenshots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context &amp; user intent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notes &amp; whiteboards into tasks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Summarizes visual content automatically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072384" y="1444752"/>
            <a:ext cx="2907792" cy="1901952"/>
          </a:xfrm>
          <a:prstGeom prst="rect">
            <a:avLst/>
          </a:prstGeom>
          <a:solidFill>
            <a:srgbClr val="FFFFFF"/>
          </a:solidFill>
          <a:ln w="1524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072384" y="1444752"/>
            <a:ext cx="2907792" cy="29260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163824" y="1444752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Research Agent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82112" y="1773936"/>
            <a:ext cx="2706624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GenAI-powered deep research assistant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Researches topics autonomously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structured summaries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complex concepts simply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actionable, structured insights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71616" y="1444752"/>
            <a:ext cx="2907792" cy="1901952"/>
          </a:xfrm>
          <a:prstGeom prst="rect">
            <a:avLst/>
          </a:prstGeom>
          <a:solidFill>
            <a:srgbClr val="FFFFFF"/>
          </a:solidFill>
          <a:ln w="1524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6071616" y="1444752"/>
            <a:ext cx="2907792" cy="292608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163056" y="1444752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Daily Cognitive Briefing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81344" y="1773936"/>
            <a:ext cx="2706624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Synthesizes meetings, tasks &amp; calendar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research findings daily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Intelligently prioritizes actions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unified daily intelligence brief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581912" y="3456432"/>
            <a:ext cx="2907792" cy="1600200"/>
          </a:xfrm>
          <a:prstGeom prst="rect">
            <a:avLst/>
          </a:prstGeom>
          <a:solidFill>
            <a:srgbClr val="FFFFFF"/>
          </a:solidFill>
          <a:ln w="1524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1581912" y="3456432"/>
            <a:ext cx="2907792" cy="292608"/>
          </a:xfrm>
          <a:prstGeom prst="rect">
            <a:avLst/>
          </a:prstGeom>
          <a:solidFill>
            <a:srgbClr val="007EA7"/>
          </a:solidFill>
          <a:ln w="12700">
            <a:solidFill>
              <a:srgbClr val="007E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1673352" y="3456432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 Aura Voice Assistant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91640" y="3785616"/>
            <a:ext cx="2706624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Multi-modal voice interaction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voice commands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 spoken responses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conversational workflow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81144" y="3456432"/>
            <a:ext cx="2907792" cy="1600200"/>
          </a:xfrm>
          <a:prstGeom prst="rect">
            <a:avLst/>
          </a:prstGeom>
          <a:solidFill>
            <a:srgbClr val="FFFFFF"/>
          </a:solidFill>
          <a:ln w="1524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4581144" y="3456432"/>
            <a:ext cx="2907792" cy="292608"/>
          </a:xfrm>
          <a:prstGeom prst="rect">
            <a:avLst/>
          </a:prstGeom>
          <a:solidFill>
            <a:srgbClr val="005F7A"/>
          </a:solidFill>
          <a:ln w="12700">
            <a:solidFill>
              <a:srgbClr val="005F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672584" y="3456432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Neural Memory Vault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690872" y="3785616"/>
            <a:ext cx="2706624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AI memory layer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user patterns &amp; preferences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contextual intelligence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personalization over time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" y="4919472"/>
            <a:ext cx="89976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INNOVATION: Unified Agentic Handoff — Vision → Research → Synthesis → Voice in one seamless layer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73152" y="54864"/>
            <a:ext cx="1737360" cy="32918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3152" y="5486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" y="47548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/ Product Walkthrough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3152" y="1417320"/>
            <a:ext cx="1709928" cy="2331720"/>
          </a:xfrm>
          <a:prstGeom prst="rect">
            <a:avLst/>
          </a:prstGeom>
          <a:solidFill>
            <a:srgbClr val="EAF7FB"/>
          </a:solidFill>
          <a:ln w="19050">
            <a:solidFill>
              <a:srgbClr val="00B4D8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1508760"/>
            <a:ext cx="365760" cy="36576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18288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1792" y="150876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Input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82880" y="1929384"/>
            <a:ext cx="1490472" cy="1728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uploads: whiteboard image, handwritten note, screenshot or timetable via Claw Vision Synapse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700784" y="2331720"/>
            <a:ext cx="173736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1719072" y="2267712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</a:rPr>
              <a:t>▶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874520" y="1417320"/>
            <a:ext cx="1709928" cy="2331720"/>
          </a:xfrm>
          <a:prstGeom prst="rect">
            <a:avLst/>
          </a:prstGeom>
          <a:solidFill>
            <a:srgbClr val="EAF7FB"/>
          </a:solidFill>
          <a:ln w="19050">
            <a:solidFill>
              <a:srgbClr val="00B4D8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1984248" y="1508760"/>
            <a:ext cx="365760" cy="36576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1984248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423160" y="150876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Context Detection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984248" y="1929384"/>
            <a:ext cx="1490472" cy="1728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extracts text, identifies intent, detects important tasks &amp; understands topic context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02152" y="2331720"/>
            <a:ext cx="173736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3520440" y="2267712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</a:rPr>
              <a:t>▶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75888" y="1417320"/>
            <a:ext cx="1709928" cy="2331720"/>
          </a:xfrm>
          <a:prstGeom prst="rect">
            <a:avLst/>
          </a:prstGeom>
          <a:solidFill>
            <a:srgbClr val="EAF7FB"/>
          </a:solidFill>
          <a:ln w="19050">
            <a:solidFill>
              <a:srgbClr val="00B4D8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3785616" y="1508760"/>
            <a:ext cx="365760" cy="36576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785616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224528" y="150876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Agent Activation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785616" y="1929384"/>
            <a:ext cx="1490472" cy="1728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asks: "Research this topic deeply." AI generates structured research summary, explains concepts &amp; creates output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303520" y="2331720"/>
            <a:ext cx="173736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5321808" y="2267712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</a:rPr>
              <a:t>▶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77256" y="1417320"/>
            <a:ext cx="1709928" cy="2331720"/>
          </a:xfrm>
          <a:prstGeom prst="rect">
            <a:avLst/>
          </a:prstGeom>
          <a:solidFill>
            <a:srgbClr val="EAF7FB"/>
          </a:solidFill>
          <a:ln w="19050">
            <a:solidFill>
              <a:srgbClr val="00B4D8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5586984" y="1508760"/>
            <a:ext cx="365760" cy="36576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5586984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025896" y="150876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Briefing Synthesis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586984" y="1929384"/>
            <a:ext cx="1490472" cy="1728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auto-updates tasks, creates meeting insights, adds research notes &amp; prioritizes actions for the day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104888" y="2331720"/>
            <a:ext cx="173736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7123176" y="2267712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</a:rPr>
              <a:t>▶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278624" y="1417320"/>
            <a:ext cx="1709928" cy="2331720"/>
          </a:xfrm>
          <a:prstGeom prst="rect">
            <a:avLst/>
          </a:prstGeom>
          <a:solidFill>
            <a:srgbClr val="EAF7FB"/>
          </a:solidFill>
          <a:ln w="19050">
            <a:solidFill>
              <a:srgbClr val="00B4D8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7388352" y="1508760"/>
            <a:ext cx="365760" cy="36576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7388352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827264" y="150876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Aura Voice Feedback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7388352" y="1929384"/>
            <a:ext cx="1490472" cy="1728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Aura responds: "Your research has been completed and added to today's briefing." Hands-free confirmation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3152" y="3858768"/>
            <a:ext cx="8997696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73152" y="3950208"/>
            <a:ext cx="8997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Key Innovation: Seamless Agent Handoff — Vision → Research → Synthesis → Voice — without leaving the application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73152" y="4343400"/>
            <a:ext cx="8997696" cy="658368"/>
          </a:xfrm>
          <a:prstGeom prst="rect">
            <a:avLst/>
          </a:prstGeom>
          <a:solidFill>
            <a:srgbClr val="F4FBFD"/>
          </a:solidFill>
          <a:ln w="12700">
            <a:solidFill>
              <a:srgbClr val="48CAE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182880" y="4389120"/>
            <a:ext cx="8778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App Flow: </a:t>
            </a: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image  →  AI scans &amp; extracts  →  Research activated  →  Briefing updated  →  Aura speaks result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73152" y="54864"/>
            <a:ext cx="1737360" cy="32918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3152" y="5486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" y="47548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&amp;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" y="1170432"/>
            <a:ext cx="4114800" cy="1225296"/>
          </a:xfrm>
          <a:prstGeom prst="rect">
            <a:avLst/>
          </a:prstGeom>
          <a:solidFill>
            <a:srgbClr val="FFFFFF"/>
          </a:solidFill>
          <a:ln w="1524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3152" y="1170432"/>
            <a:ext cx="4114800" cy="2926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64592" y="117043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Frontend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" y="1499616"/>
            <a:ext cx="3913632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(cross-platform)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State Management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Glassmorphism UI Design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" y="2468880"/>
            <a:ext cx="4114800" cy="1225296"/>
          </a:xfrm>
          <a:prstGeom prst="rect">
            <a:avLst/>
          </a:prstGeom>
          <a:solidFill>
            <a:srgbClr val="FFFFFF"/>
          </a:solidFill>
          <a:ln w="1524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73152" y="2468880"/>
            <a:ext cx="4114800" cy="2926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64592" y="24688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Backend &amp; Storage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" y="2798064"/>
            <a:ext cx="3913632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Hive / SQLite — on-device persistence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local memory architecture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 data layer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8288" y="3918204"/>
            <a:ext cx="4114800" cy="1225296"/>
          </a:xfrm>
          <a:prstGeom prst="rect">
            <a:avLst/>
          </a:prstGeom>
          <a:solidFill>
            <a:srgbClr val="FFFFFF"/>
          </a:solidFill>
          <a:ln w="1524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5" name="Shape 13"/>
          <p:cNvSpPr/>
          <p:nvPr/>
        </p:nvSpPr>
        <p:spPr>
          <a:xfrm>
            <a:off x="73152" y="3767328"/>
            <a:ext cx="4114800" cy="2926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164592" y="376732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Models &amp; APIs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2880" y="4096512"/>
            <a:ext cx="3913632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</a:t>
            </a:r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GLM 4.5 Air</a:t>
            </a:r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GPT-OSS Free Models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Calendar API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OCR/Vision · STT · TTS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315968" y="1170432"/>
            <a:ext cx="4754880" cy="3822192"/>
          </a:xfrm>
          <a:prstGeom prst="rect">
            <a:avLst/>
          </a:prstGeom>
          <a:solidFill>
            <a:srgbClr val="F4FBFD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4315968" y="1170432"/>
            <a:ext cx="4754880" cy="32918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407408" y="117043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498848" y="1627632"/>
            <a:ext cx="4389120" cy="512064"/>
          </a:xfrm>
          <a:prstGeom prst="rect">
            <a:avLst/>
          </a:prstGeom>
          <a:solidFill>
            <a:srgbClr val="003F5C"/>
          </a:solidFill>
          <a:ln w="12700">
            <a:solidFill>
              <a:srgbClr val="003F5C"/>
            </a:solidFill>
            <a:prstDash val="solid"/>
          </a:ln>
          <a:effectLst>
            <a:outerShdw blurRad="381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590288" y="16276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Input Layer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590288" y="188366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CC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/ Image / Tasks / Calendar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492240" y="21031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↓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498848" y="2249424"/>
            <a:ext cx="4389120" cy="512064"/>
          </a:xfrm>
          <a:prstGeom prst="rect">
            <a:avLst/>
          </a:prstGeom>
          <a:solidFill>
            <a:srgbClr val="005F7A"/>
          </a:solidFill>
          <a:ln w="12700">
            <a:solidFill>
              <a:srgbClr val="005F7A"/>
            </a:solidFill>
            <a:prstDash val="solid"/>
          </a:ln>
          <a:effectLst>
            <a:outerShdw blurRad="381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590288" y="224942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Aura Processing Layer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90288" y="250545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CC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Context Detection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492240" y="27249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↓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498848" y="2871216"/>
            <a:ext cx="4389120" cy="5120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  <a:effectLst>
            <a:outerShdw blurRad="381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590288" y="287121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Agentic Dispatcher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590288" y="312724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CC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task to correct AI agent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492240" y="33467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↓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498848" y="3493008"/>
            <a:ext cx="4389120" cy="512064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  <a:effectLst>
            <a:outerShdw blurRad="381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590288" y="34930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LLM Reasoning Engine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90288" y="374904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CC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/ Summarization / Planning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92240" y="39684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↓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498848" y="4114800"/>
            <a:ext cx="4389120" cy="5120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  <a:effectLst>
            <a:outerShdw blurRad="381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4590288" y="4114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Output Layer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4590288" y="437083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CC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• Briefs • Voice • Research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3152" y="4919472"/>
            <a:ext cx="89976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real, not generic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73152" y="54864"/>
            <a:ext cx="1737360" cy="32918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3152" y="5486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" y="47548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Use Cases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" y="1170432"/>
            <a:ext cx="4425696" cy="1865376"/>
          </a:xfrm>
          <a:prstGeom prst="rect">
            <a:avLst/>
          </a:prstGeom>
          <a:solidFill>
            <a:srgbClr val="FFFFFF"/>
          </a:solidFill>
          <a:ln w="1524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3152" y="1170432"/>
            <a:ext cx="4425696" cy="32918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64592" y="1170432"/>
            <a:ext cx="4242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Active Learner (Student)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" y="153619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uploads classroom notes or whiteboard photo.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82880" y="1901952"/>
            <a:ext cx="42062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&amp; structures key concepts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Researches topic automatically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personalised study guide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spaced revision tasks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26864" y="1170432"/>
            <a:ext cx="4425696" cy="1865376"/>
          </a:xfrm>
          <a:prstGeom prst="rect">
            <a:avLst/>
          </a:prstGeom>
          <a:solidFill>
            <a:srgbClr val="FFFFFF"/>
          </a:solidFill>
          <a:ln w="1524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4626864" y="1170432"/>
            <a:ext cx="4425696" cy="32918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4718304" y="1170432"/>
            <a:ext cx="4242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Busy Professional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36592" y="153619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says: "Summarize my meetings from today."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36592" y="1901952"/>
            <a:ext cx="42062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Aura generates meeting highlights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deadlines &amp; action items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next steps with owners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to daily briefing instantly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" y="3108960"/>
            <a:ext cx="4425696" cy="1865376"/>
          </a:xfrm>
          <a:prstGeom prst="rect">
            <a:avLst/>
          </a:prstGeom>
          <a:solidFill>
            <a:srgbClr val="FFFFFF"/>
          </a:solidFill>
          <a:ln w="1524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73152" y="3108960"/>
            <a:ext cx="4425696" cy="329184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164592" y="3108960"/>
            <a:ext cx="4242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Researcher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82880" y="3474720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inputs research question or paper screenshot.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82880" y="3840480"/>
            <a:ext cx="42062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Agent performs deep dive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Structures information by theme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Summarizes findings concisely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tab-switching by 80%+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26864" y="3108960"/>
            <a:ext cx="4425696" cy="1865376"/>
          </a:xfrm>
          <a:prstGeom prst="rect">
            <a:avLst/>
          </a:prstGeom>
          <a:solidFill>
            <a:srgbClr val="FFFFFF"/>
          </a:solidFill>
          <a:ln w="1524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4626864" y="3108960"/>
            <a:ext cx="4425696" cy="329184"/>
          </a:xfrm>
          <a:prstGeom prst="rect">
            <a:avLst/>
          </a:prstGeom>
          <a:solidFill>
            <a:srgbClr val="005F7A"/>
          </a:solidFill>
          <a:ln w="12700">
            <a:solidFill>
              <a:srgbClr val="005F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4718304" y="3108960"/>
            <a:ext cx="4242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Productivity Companion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36592" y="3474720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runs Daily Briefing at start of day.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36592" y="3840480"/>
            <a:ext cx="42062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Prioritizes tasks by urgency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Reminds urgent deadlines proactively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Synthesizes schedule intelligently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Adapts to user rhythm over time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3152" y="4956048"/>
            <a:ext cx="8997696" cy="14630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73152" y="4828032"/>
            <a:ext cx="89976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Potential: Enterprise AI Workspace  •  Educational AI Platform  •  AI Productivity Operating System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73152" y="54864"/>
            <a:ext cx="1737360" cy="32918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3152" y="5486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" y="47548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 — Why Cognitive Claw Stands Out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" y="1170432"/>
            <a:ext cx="4425696" cy="1645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3152" y="1170432"/>
            <a:ext cx="109728" cy="1645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274320" y="1261872"/>
            <a:ext cx="4133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Unified Multi-modal Intelligence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74320" y="1645920"/>
            <a:ext cx="4133088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apps handle Voice OR Vision OR Research in isolation. Cognitive Claw combines ALL modalities into one seamless agentic layer — no context lost between switches.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26864" y="1170432"/>
            <a:ext cx="4425696" cy="1645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4626864" y="1170432"/>
            <a:ext cx="109728" cy="164592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828032" y="1261872"/>
            <a:ext cx="4133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Agentic Execution (Not Just Chat)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28032" y="1645920"/>
            <a:ext cx="4133088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chatbots wait and answer. Cognitive Claw understands intent, decides the right action, executes across agents, and synthesizes results — proactively.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" y="2889504"/>
            <a:ext cx="4425696" cy="1645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73152" y="2889504"/>
            <a:ext cx="109728" cy="1645920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74320" y="2980944"/>
            <a:ext cx="4133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MOAT #1 — Neural Memory Vault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74320" y="3364992"/>
            <a:ext cx="4133088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contextual memory that builds a personalised intelligence layer. The AI learns your writing style, productivity habits &amp; research behavior — getting smarter every day.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26864" y="2889504"/>
            <a:ext cx="4425696" cy="1645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4626864" y="2889504"/>
            <a:ext cx="109728" cy="1645920"/>
          </a:xfrm>
          <a:prstGeom prst="rect">
            <a:avLst/>
          </a:prstGeom>
          <a:solidFill>
            <a:srgbClr val="007EA7"/>
          </a:solidFill>
          <a:ln w="12700">
            <a:solidFill>
              <a:srgbClr val="007E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828032" y="2980944"/>
            <a:ext cx="4133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7E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MOAT #2 — On-device First Architecture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828032" y="3364992"/>
            <a:ext cx="4133088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by design. All processing happens locally — no cloud dependency for core features. Result: lower latency, offline capability &amp; secure personal intelligence.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" y="4663440"/>
            <a:ext cx="8997696" cy="384048"/>
          </a:xfrm>
          <a:prstGeom prst="rect">
            <a:avLst/>
          </a:prstGeom>
          <a:solidFill>
            <a:srgbClr val="003F5C"/>
          </a:solidFill>
          <a:ln w="12700">
            <a:solidFill>
              <a:srgbClr val="003F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164592" y="4663440"/>
            <a:ext cx="881481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Premium Aura Experience — Glassmorphic adaptive UI with emotional interaction, voice-first navigation &amp; intelligent visual feedback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73152" y="54864"/>
            <a:ext cx="1737360" cy="32918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3152" y="5486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1920" y="557784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Link &amp; Documentation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1024128"/>
          </a:xfrm>
          <a:prstGeom prst="rect">
            <a:avLst/>
          </a:prstGeom>
          <a:solidFill>
            <a:srgbClr val="FFFFFF"/>
          </a:solidFill>
          <a:ln w="1905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128016" cy="102412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694944" y="1389888"/>
            <a:ext cx="640080" cy="640080"/>
          </a:xfrm>
          <a:prstGeom prst="ellipse">
            <a:avLst/>
          </a:prstGeom>
          <a:solidFill>
            <a:srgbClr val="0077A8">
              <a:alpha val="20000"/>
            </a:srgbClr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94944" y="13898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44752" y="12801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44752" y="164592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code, architecture docs &amp; setup guide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35608" y="192938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hlinkClick r:id="rId3"/>
              </a:rPr>
              <a:t>https://github.com/Amith7721/Cognitive_Claw</a:t>
            </a:r>
            <a:endParaRPr lang="en-US" sz="1100" dirty="0"/>
          </a:p>
          <a:p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8229600" cy="1024128"/>
          </a:xfrm>
          <a:prstGeom prst="rect">
            <a:avLst/>
          </a:prstGeom>
          <a:solidFill>
            <a:srgbClr val="FFFFFF"/>
          </a:solidFill>
          <a:ln w="1905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457200" y="2331720"/>
            <a:ext cx="128016" cy="10241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694944" y="2532888"/>
            <a:ext cx="640080" cy="640080"/>
          </a:xfrm>
          <a:prstGeom prst="ellipse">
            <a:avLst/>
          </a:prstGeom>
          <a:solidFill>
            <a:srgbClr val="00B4D8">
              <a:alpha val="20000"/>
            </a:srgbClr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94944" y="25328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▶️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444752" y="24231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44752" y="278892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product walkthrough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444752" y="301752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https://drive.google.com/drive/folders/1Cv8gZVs3T-3lVJVkQf6udaqevV5hLc-d?usp=drive_link</a:t>
            </a:r>
            <a:endParaRPr lang="en-US" sz="1100" i="1" dirty="0">
              <a:solidFill>
                <a:srgbClr val="00B4D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73152" y="54864"/>
            <a:ext cx="1737360" cy="32918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3152" y="5486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Brownie Slide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" y="47548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Future Scope &amp; Vision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3152" y="1389888"/>
            <a:ext cx="8997696" cy="1005840"/>
          </a:xfrm>
          <a:prstGeom prst="rect">
            <a:avLst/>
          </a:prstGeom>
          <a:solidFill>
            <a:srgbClr val="003F5C"/>
          </a:solidFill>
          <a:ln w="12700">
            <a:solidFill>
              <a:srgbClr val="003F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201168" y="1435608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Adaptive Aura Intelligence — UI that dynamically changes with user state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01168" y="1792224"/>
            <a:ext cx="2743200" cy="457200"/>
          </a:xfrm>
          <a:prstGeom prst="roundRect">
            <a:avLst>
              <a:gd name="adj" fmla="val 12000"/>
            </a:avLst>
          </a:prstGeom>
          <a:solidFill>
            <a:srgbClr val="FF4444">
              <a:alpha val="70000"/>
            </a:srgbClr>
          </a:solidFill>
          <a:ln w="12700">
            <a:solidFill>
              <a:srgbClr val="F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01168" y="179222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Red  →  Urgent Tasks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182112" y="1792224"/>
            <a:ext cx="2743200" cy="457200"/>
          </a:xfrm>
          <a:prstGeom prst="roundRect">
            <a:avLst>
              <a:gd name="adj" fmla="val 12000"/>
            </a:avLst>
          </a:prstGeom>
          <a:solidFill>
            <a:srgbClr val="4488FF">
              <a:alpha val="70000"/>
            </a:srgbClr>
          </a:solidFill>
          <a:ln w="12700">
            <a:solidFill>
              <a:srgbClr val="4488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182112" y="179222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Blue  →  Research Focus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63056" y="1792224"/>
            <a:ext cx="2743200" cy="457200"/>
          </a:xfrm>
          <a:prstGeom prst="roundRect">
            <a:avLst>
              <a:gd name="adj" fmla="val 12000"/>
            </a:avLst>
          </a:prstGeom>
          <a:solidFill>
            <a:srgbClr val="44CC88">
              <a:alpha val="70000"/>
            </a:srgbClr>
          </a:solidFill>
          <a:ln w="12700">
            <a:solidFill>
              <a:srgbClr val="44CC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163056" y="179222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Green  →  Calm Productivity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3152" y="2377440"/>
            <a:ext cx="2907792" cy="2331720"/>
          </a:xfrm>
          <a:prstGeom prst="rect">
            <a:avLst/>
          </a:prstGeom>
          <a:solidFill>
            <a:srgbClr val="FFFFFF"/>
          </a:solidFill>
          <a:ln w="1524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73152" y="2377440"/>
            <a:ext cx="2907792" cy="2926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164592" y="2377440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On-device LLM Fine-tuning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82880" y="2706624"/>
            <a:ext cx="2706624" cy="1947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Personalised AI that adapts to your writing style, productivity habits &amp; research behavior over time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072384" y="2377440"/>
            <a:ext cx="2907792" cy="2331720"/>
          </a:xfrm>
          <a:prstGeom prst="rect">
            <a:avLst/>
          </a:prstGeom>
          <a:solidFill>
            <a:srgbClr val="FFFFFF"/>
          </a:solidFill>
          <a:ln w="1524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3072384" y="2377440"/>
            <a:ext cx="2907792" cy="2926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163824" y="2377440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Wearable Integration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182112" y="2706624"/>
            <a:ext cx="2706624" cy="1947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Smart-glasses powered real-time OCR, contextual AI assistance &amp; fully hands-free interaction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071616" y="2377440"/>
            <a:ext cx="2907792" cy="2331720"/>
          </a:xfrm>
          <a:prstGeom prst="rect">
            <a:avLst/>
          </a:prstGeom>
          <a:solidFill>
            <a:srgbClr val="FFFFFF"/>
          </a:solidFill>
          <a:ln w="15240">
            <a:solidFill>
              <a:srgbClr val="D0EEF7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6071616" y="2377440"/>
            <a:ext cx="2907792" cy="2926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163056" y="2377440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AI Agents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181344" y="2706624"/>
            <a:ext cx="2706624" cy="1947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agents capable of scheduling meetings, generating reports, managing research &amp; intelligent orchestration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3152" y="4663440"/>
            <a:ext cx="8997696" cy="457200"/>
          </a:xfrm>
          <a:prstGeom prst="rect">
            <a:avLst/>
          </a:prstGeom>
          <a:solidFill>
            <a:srgbClr val="F4FBFD"/>
          </a:solidFill>
          <a:ln w="1524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182880" y="4681728"/>
            <a:ext cx="8778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"Cognitive Claw is not just a chatbot. It is an Agentic Intelligence Layer that understands, reasons, and acts across vision, voice, research, and productivity workflows."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2DE3E7-0F96-09DF-4F2F-74B5345FCED1}"/>
              </a:ext>
            </a:extLst>
          </p:cNvPr>
          <p:cNvSpPr txBox="1"/>
          <p:nvPr/>
        </p:nvSpPr>
        <p:spPr>
          <a:xfrm>
            <a:off x="2676144" y="2023872"/>
            <a:ext cx="45171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5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2920872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310</TotalTime>
  <Words>1234</Words>
  <Application>Microsoft Office PowerPoint</Application>
  <PresentationFormat>On-screen Show (16:9)</PresentationFormat>
  <Paragraphs>223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Amith gowda</cp:lastModifiedBy>
  <cp:revision>3</cp:revision>
  <dcterms:created xsi:type="dcterms:W3CDTF">2026-05-08T08:49:18Z</dcterms:created>
  <dcterms:modified xsi:type="dcterms:W3CDTF">2026-05-09T07:53:06Z</dcterms:modified>
</cp:coreProperties>
</file>